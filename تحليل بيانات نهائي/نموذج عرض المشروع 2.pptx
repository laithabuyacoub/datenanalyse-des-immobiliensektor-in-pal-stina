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47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33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7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7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0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2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9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1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0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8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9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9488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06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11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68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13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3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47086-B2D6-47F3-BEE9-8CF3412E7289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10AD8-A00B-4C83-AEC5-E56C07252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00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b"/>
          <a:lstStyle/>
          <a:p>
            <a:pPr algn="ctr"/>
            <a:r>
              <a:rPr lang="ar-SA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برنامج تحليل البيانات في عالم الأعمال</a:t>
            </a:r>
            <a:endParaRPr lang="en-US" sz="7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 algn="ctr" rtl="1"/>
            <a:r>
              <a:rPr lang="ar-JO" sz="3600" dirty="0"/>
              <a:t>مقارنة عدد الساكنين في دار ملك في عامين 2017 و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0057" y="5772150"/>
            <a:ext cx="2049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شباط 2025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27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الأجندة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 rtl="1"/>
            <a:r>
              <a:rPr lang="ar-SA" dirty="0"/>
              <a:t>التعريف بأعضاء الفريق</a:t>
            </a:r>
          </a:p>
          <a:p>
            <a:pPr algn="r" rtl="1"/>
            <a:r>
              <a:rPr lang="ar-SA" dirty="0"/>
              <a:t>لمحة عن المشروع وأهدافه</a:t>
            </a:r>
          </a:p>
          <a:p>
            <a:pPr algn="r" rtl="1"/>
            <a:r>
              <a:rPr lang="ar-SA" dirty="0"/>
              <a:t>خطة العمل (توزيع المهام على الفريق)</a:t>
            </a:r>
            <a:endParaRPr lang="en-US" dirty="0"/>
          </a:p>
          <a:p>
            <a:pPr algn="r" rtl="1"/>
            <a:r>
              <a:rPr lang="ar-SA" dirty="0"/>
              <a:t>مراحل تنفيذ المشروع (ملخص عن رحلة تحليل البيانات بما يشمل الأدوات)</a:t>
            </a:r>
          </a:p>
          <a:p>
            <a:pPr algn="r" rtl="1"/>
            <a:r>
              <a:rPr lang="ar-SA" dirty="0"/>
              <a:t>اهم التحديات</a:t>
            </a:r>
            <a:r>
              <a:rPr lang="en-US" dirty="0"/>
              <a:t> </a:t>
            </a:r>
            <a:r>
              <a:rPr lang="ar-SA" dirty="0"/>
              <a:t>(المشاكل والعقبات)</a:t>
            </a:r>
          </a:p>
          <a:p>
            <a:pPr algn="r" rtl="1"/>
            <a:r>
              <a:rPr lang="ar-SA" dirty="0"/>
              <a:t>ابرز المخرجات (</a:t>
            </a:r>
            <a:r>
              <a:rPr lang="en-US" dirty="0"/>
              <a:t>Storytelling</a:t>
            </a:r>
            <a:r>
              <a:rPr lang="ar-SA" dirty="0"/>
              <a:t>) والتوصيات</a:t>
            </a:r>
          </a:p>
          <a:p>
            <a:pPr algn="r" rtl="1"/>
            <a:r>
              <a:rPr lang="ar-SA" dirty="0"/>
              <a:t>عرض المشروع (</a:t>
            </a:r>
            <a:r>
              <a:rPr lang="en-US" dirty="0"/>
              <a:t>Demo</a:t>
            </a:r>
            <a:r>
              <a:rPr lang="ar-SA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87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أعضاء الفريق والمشرف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 rtl="1"/>
            <a:r>
              <a:rPr lang="ar-JO" dirty="0"/>
              <a:t>المشرف: الدكتور احم</a:t>
            </a:r>
            <a:r>
              <a:rPr lang="ar-EG" dirty="0"/>
              <a:t>د</a:t>
            </a:r>
            <a:r>
              <a:rPr lang="ar-JO" dirty="0"/>
              <a:t> عابد</a:t>
            </a:r>
          </a:p>
          <a:p>
            <a:pPr algn="r" rtl="1"/>
            <a:r>
              <a:rPr lang="ar-JO" dirty="0"/>
              <a:t>الاعضاء:</a:t>
            </a:r>
          </a:p>
          <a:p>
            <a:pPr algn="r" rtl="1"/>
            <a:r>
              <a:rPr lang="ar-JO" dirty="0"/>
              <a:t>ليث ابو يعقوب</a:t>
            </a:r>
          </a:p>
          <a:p>
            <a:pPr algn="r" rtl="1"/>
            <a:r>
              <a:rPr lang="ar-JO" dirty="0"/>
              <a:t>امين نور </a:t>
            </a:r>
          </a:p>
          <a:p>
            <a:pPr algn="r" rtl="1"/>
            <a:r>
              <a:rPr lang="ar-JO" dirty="0"/>
              <a:t>عبدالله </a:t>
            </a:r>
            <a:r>
              <a:rPr lang="ar-EG" dirty="0"/>
              <a:t>خطيب</a:t>
            </a:r>
            <a:endParaRPr lang="ar-JO" dirty="0"/>
          </a:p>
          <a:p>
            <a:pPr algn="r" rtl="1"/>
            <a:r>
              <a:rPr lang="ar-JO" dirty="0"/>
              <a:t>ليث سفاريني</a:t>
            </a:r>
          </a:p>
          <a:p>
            <a:pPr algn="r" rtl="1"/>
            <a:r>
              <a:rPr lang="ar-JO" dirty="0"/>
              <a:t>مروان سباتين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056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المشروع وأهدافه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770312"/>
          </a:xfrm>
        </p:spPr>
        <p:txBody>
          <a:bodyPr>
            <a:normAutofit/>
          </a:bodyPr>
          <a:lstStyle/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وصف المشروع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المشروع يهدف إلى </a:t>
            </a: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مقارنة عدد الساكنين في منازل ملك بين عامي 2017 و2023</a:t>
            </a: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في مختلف محافظات الضفة الغربية، وتحليل التغيرات السكانية خلال هذه الفترة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أهداف المشروع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قياس التغير في نسبة الساكنين في منازل ملك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تحديد مدى زيادة أو نقصان عدد الأسر المالكة لمنازلها عبر السنوات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تقديم تحليل مقارن بين المحافظات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إبراز الفروقات بين المحافظات المختلفة وتحديد أيها شهد زيادة أو انخفاضًا في نسبة الساكنين في منازل ملك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فهم العوامل المؤثرة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تحليل العوامل الاقتصادية والاجتماعية التي قد تكون أثرت على نسب التملك والإيجار في الضفة الغربية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استخدام التحليل لدعم اتخاذ القرار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توفير بيانات موثوقة يمكن أن تساعد صناع القرار في وضع سياسات إسكان مناسبة تعتمد على اتجاهات التملك والإيجار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1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خطة العمل</a:t>
            </a:r>
            <a:r>
              <a:rPr lang="ar-EG" dirty="0"/>
              <a:t> </a:t>
            </a:r>
            <a:r>
              <a:rPr lang="ar-JO" dirty="0"/>
              <a:t>(توزيع المهام)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52600"/>
            <a:ext cx="9905999" cy="4724399"/>
          </a:xfrm>
        </p:spPr>
        <p:txBody>
          <a:bodyPr>
            <a:normAutofit fontScale="92500" lnSpcReduction="10000"/>
          </a:bodyPr>
          <a:lstStyle/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جمع البيانات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المسؤولون</a:t>
            </a:r>
            <a:r>
              <a:rPr lang="ar-EG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EG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ليث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سفاريني، ليث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أبو يعقوب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، أمين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نور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SA" sz="16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وعبدال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له خطيب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المهمة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البحث عن المصادر، التواصل مع الجهات المختصة، وتوثيق البيانات المستلمة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تنظيف البيانات ومعالجتها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المسؤولون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ليث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أبو يعقوب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و أمين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نور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المهمة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إزالة القيم الشاذة، التعامل مع البيانات المفقودة، وضبط الصيغ والتنسيقات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تحليل البيانات الأولي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المسؤولون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ليث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أبو يعقوب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، عبدالله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خطيب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، وأمين نور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المهمة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تحليل التوزيعات، إنشاء مخططات أولية، واكتشاف الاتجاهات والارتباطات في البيانات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إعداد تقرير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Power BI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وإنشاء التصورات البصرية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المسؤولون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أمين نور، مروان، وليث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EG" sz="16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ابو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يعقوب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المهمة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بناء لوحات البيانات التفاعلية، إعداد التقارير، وتصميم المخططات التي تسهل فهم النتائج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مراجعة وضبط النتائج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المسؤولون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مروان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سباتين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ليث أبو يعقوب ،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عبدالله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خطيب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المهمة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التحقق من دقة التحليل، مراجعة التقارير، وضمان تطابق البيانات مع الأهداف المطلوبة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إعداد العرض التقديمي وصياغة التوصيات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المسؤولون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EG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عبدالله خطيب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، ليث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أبو يعقوب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المهمة</a:t>
            </a:r>
            <a:r>
              <a:rPr lang="en-US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تجهيز شرائح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PowerPoint</a:t>
            </a: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، كتابة التوصيات، والتأكد من وضوح المعلومات المقدمة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0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9905998" cy="1478570"/>
          </a:xfrm>
        </p:spPr>
        <p:txBody>
          <a:bodyPr/>
          <a:lstStyle/>
          <a:p>
            <a:pPr algn="r" rtl="1"/>
            <a:r>
              <a:rPr lang="ar-SA" dirty="0"/>
              <a:t>مراحل تنفيذ المشروع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19200"/>
            <a:ext cx="9905999" cy="5410200"/>
          </a:xfrm>
        </p:spPr>
        <p:txBody>
          <a:bodyPr>
            <a:normAutofit/>
          </a:bodyPr>
          <a:lstStyle/>
          <a:p>
            <a:pPr marL="0" marR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جمع البيانات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تم الحصول على البيانات من مصادر متعددة، بما في ذلك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الإحصاء الفلسطيني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الحكم المحلي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نقابة المهندسين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بلدية البيرة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تنظيف البيانات ومعالجتها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إزالة البيانات غير المتوافقة مع نطاق المشروع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معالجة القيم المفقودة والتأكد من اتساق البيانات بين السنتين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حساب عدد المالكين لكل محافظة من خلال ضرب نسبة التملك في عدد السكان لعامي 2017 و2023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تحليل البيانات الأولي</a:t>
            </a: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دراسة التوزيع الإحصائي لعدد السكان ونسب التملك عبر المحافظات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استخدام المخططات البيانية لاكتشاف الأنماط والاختلافات بين الفترتين الزمنيتين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ar-SA" sz="1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إعداد التقرير التفاعلي باستخدام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Power BI: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تصميم لوحات معلوماتية تعرض مقارنة التغير في نسبة التملك لكل محافظة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إنشاء مخططات ورسوم بيانية توضح الاتجاهات الرئيسية والاستثناءات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r" rtl="1"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توفير تصور مرئي يساعد في تحليل البيانات واتخاذ القرارات</a:t>
            </a:r>
            <a:endParaRPr lang="en-US" sz="2800" dirty="0"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SzPts val="1000"/>
              <a:buNone/>
              <a:tabLst>
                <a:tab pos="457200" algn="l"/>
              </a:tabLst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9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81000"/>
            <a:ext cx="9905998" cy="1478570"/>
          </a:xfrm>
        </p:spPr>
        <p:txBody>
          <a:bodyPr/>
          <a:lstStyle/>
          <a:p>
            <a:pPr algn="r" rtl="1"/>
            <a:r>
              <a:rPr lang="ar-SA" dirty="0"/>
              <a:t>اهم التحديات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600200"/>
            <a:ext cx="9905999" cy="5029200"/>
          </a:xfrm>
        </p:spPr>
        <p:txBody>
          <a:bodyPr>
            <a:normAutofit fontScale="92500" lnSpcReduction="10000"/>
          </a:bodyPr>
          <a:lstStyle/>
          <a:p>
            <a:pPr algn="r" rtl="1">
              <a:lnSpc>
                <a:spcPct val="130000"/>
              </a:lnSpc>
              <a:spcBef>
                <a:spcPts val="0"/>
              </a:spcBef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نقص واختلاف جودة البيانات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استُبعد جزء كبير من البيانات المُجمعة لعدم كفايتها وعدم وضوحها، مما فرض تحديًا في الحصول على بيانات متكاملة وموثوقة</a:t>
            </a:r>
            <a:r>
              <a:rPr lang="en-US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 rtl="1">
              <a:lnSpc>
                <a:spcPct val="13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صعوبة الحصول على البيانات والتواصل مع الجهات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واجهنا صعوبة في الحصول على البيانات من بعض المؤسسات، حيث لم تُبدِ بعض الجهات اهتمامًا كافيًا للتعاون، مما أثر على توفر البيانات الضرورية للتحليل</a:t>
            </a:r>
            <a:r>
              <a:rPr lang="en-US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 rtl="1">
              <a:lnSpc>
                <a:spcPct val="130000"/>
              </a:lnSpc>
              <a:spcBef>
                <a:spcPts val="0"/>
              </a:spcBef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تباين مصادر البيانات واختلاف تنسيقاتها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تعدد مصادر البيانات مثل الإحصاء الفلسطيني، الحكم المحلي، نقابة المهندسين، وبلدية البيرة أدى إلى اختلاف في صيغ البيانات وتعارض في المعايير، ما استدعى جهودًا إضافية لعملية التنقية والتوحيد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 rtl="1">
              <a:lnSpc>
                <a:spcPct val="13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تحديات التحقق من صحة البيانات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ضرورة التأكد من دقة وصحة البيانات المجمعة، وتحقيق مستوى عالٍ من الشفافية والمصداقية في نتائج التحليل</a:t>
            </a:r>
            <a:r>
              <a:rPr lang="en-US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 rtl="1">
              <a:lnSpc>
                <a:spcPct val="13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تأثير نقص البيانات على النتائج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عدم اكتمال البيانات قد يؤثر على دقة النتائج والتوصيات النهائية، مما يستدعي استخدام تقنيات تحليل متقدمة للتعامل مع الفجوات والقيود الموجودة</a:t>
            </a:r>
            <a:r>
              <a:rPr lang="en-US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EG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 rtl="1">
              <a:lnSpc>
                <a:spcPct val="130000"/>
              </a:lnSpc>
              <a:spcBef>
                <a:spcPts val="0"/>
              </a:spcBef>
            </a:pPr>
            <a:r>
              <a:rPr lang="ar-SA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معوقات تنظيمية وزمنية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 algn="r" rt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5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التأخر في الاستجابة من بعض الجهات وتحديات التنسيق مع المؤسسات المختلفة شكلت عقبات إضافية في مسار جمع البيانات وتنفيذ المشروع</a:t>
            </a:r>
            <a:r>
              <a:rPr lang="en-US" sz="1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788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عرض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ar-SA" dirty="0"/>
              <a:t>توفير لمحة عن البيانات الخام</a:t>
            </a:r>
          </a:p>
          <a:p>
            <a:pPr algn="r" rtl="1"/>
            <a:r>
              <a:rPr lang="ar-SA" dirty="0"/>
              <a:t>توفير صورة أو نسخة عن البيانات بعد المعالجة</a:t>
            </a:r>
          </a:p>
          <a:p>
            <a:pPr algn="r" rtl="1"/>
            <a:r>
              <a:rPr lang="ar-SA" dirty="0"/>
              <a:t>عرض نموذج البيانات والعلاقات (</a:t>
            </a:r>
            <a:r>
              <a:rPr lang="en-US" dirty="0"/>
              <a:t>Data Model</a:t>
            </a:r>
            <a:r>
              <a:rPr lang="ar-SA" dirty="0"/>
              <a:t>)</a:t>
            </a:r>
          </a:p>
          <a:p>
            <a:pPr algn="r" rtl="1"/>
            <a:r>
              <a:rPr lang="ar-SA" dirty="0"/>
              <a:t>عرض الملخصات والتحليلات الاستكشافية (</a:t>
            </a:r>
            <a:r>
              <a:rPr lang="en-US" dirty="0"/>
              <a:t>EDA</a:t>
            </a:r>
            <a:r>
              <a:rPr lang="ar-SA" dirty="0"/>
              <a:t>)</a:t>
            </a:r>
          </a:p>
          <a:p>
            <a:pPr algn="r" rtl="1"/>
            <a:r>
              <a:rPr lang="ar-SA" dirty="0"/>
              <a:t>عرض أي تحليلات إضافية (تنبؤات)</a:t>
            </a:r>
            <a:endParaRPr lang="en-US" dirty="0"/>
          </a:p>
          <a:p>
            <a:pPr algn="r" rtl="1"/>
            <a:r>
              <a:rPr lang="ar-SA" dirty="0"/>
              <a:t>عرض التصاميم ونماذج ملخصات البيانات (</a:t>
            </a:r>
            <a:r>
              <a:rPr lang="en-US" dirty="0"/>
              <a:t>Dashboard/s &amp; Visuals</a:t>
            </a:r>
            <a:r>
              <a:rPr lang="ar-SA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4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ابرز المخرجات والتوصيات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زيادة عدد الساكنين في منازل ملك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أظهر التحليل ازدياد عدد الساكنين في منازل ملك في عام 2023 مقارنة بعام 2017 في معظم محافظات الضفة الغربية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الاستثناء: شهدت محافظتا بيت لحم ونابلس انخفاضًا في عدد الساكنين في منازل ملك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تغيرات نسبة المستأجرين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تُظهر البيانات انخفاض نسبة المستأجرين في معظم المحافظات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الاستثناءات: محافظة طوباس حافظت على ثبات النسبة، بينما ارتفعت نسبة المستأجرين في القدس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التوصيات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دراسة معمقة للمناطق ذات الأداء المنخفض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إجراء تحليل تفصيلي لأسباب انخفاض عدد الساكنين في منازل ملك في بيت لحم ونابلس، مع وضع مقترحات لتحسين الوضع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تعزيز سياسات الإسكان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تطوير سياسات داعمة لتعزيز ملكية المساكن في المحافظات التي تظهر تراجعًا، من خلال توفير تسهيلات ائتمانية وحوافز سكنية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تحليل عوامل الإيجار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دراسة الأسباب الكامنة وراء ثبات نسبة المستأجرين في طوباس وارتفاعها في القدس، وتقديم توصيات لتحقيق توازن بين التملك والإيجار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r" rtl="1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المتابعة والتقييم الدوري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r" rtl="1"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اعتماد نظام متابعة دوري لتقييم تأثير السياسات المتبعة على نسب التملك والإيجار، وتعديل الاستراتيجيات بناءً على النتائج المستخلصة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493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954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Courier New</vt:lpstr>
      <vt:lpstr>Symbol</vt:lpstr>
      <vt:lpstr>Times New Roman</vt:lpstr>
      <vt:lpstr>Tw Cen MT</vt:lpstr>
      <vt:lpstr>Circuit</vt:lpstr>
      <vt:lpstr>برنامج تحليل البيانات في عالم الأعمال</vt:lpstr>
      <vt:lpstr>الأجندة</vt:lpstr>
      <vt:lpstr>أعضاء الفريق والمشرف</vt:lpstr>
      <vt:lpstr>المشروع وأهدافه</vt:lpstr>
      <vt:lpstr>خطة العمل (توزيع المهام)</vt:lpstr>
      <vt:lpstr>مراحل تنفيذ المشروع</vt:lpstr>
      <vt:lpstr>اهم التحديات</vt:lpstr>
      <vt:lpstr>عرض المشروع</vt:lpstr>
      <vt:lpstr>ابرز المخرجات والتوصيات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برنامج تحليل البيانات في عالم الأعمال</dc:title>
  <cp:lastModifiedBy>Abdullah khatib</cp:lastModifiedBy>
  <cp:revision>12</cp:revision>
  <dcterms:modified xsi:type="dcterms:W3CDTF">2025-02-22T13:02:43Z</dcterms:modified>
</cp:coreProperties>
</file>