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7" r:id="rId2"/>
    <p:sldId id="265" r:id="rId3"/>
    <p:sldId id="263" r:id="rId4"/>
    <p:sldId id="261" r:id="rId5"/>
    <p:sldId id="259" r:id="rId6"/>
    <p:sldId id="264" r:id="rId7"/>
    <p:sldId id="262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الثانوي الرئيسي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4F5CD19-CBD8-422A-A4AA-8C59B5DDDB8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7BCBF16-79D0-489B-ADF4-ADF03C82C1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CD19-CBD8-422A-A4AA-8C59B5DDDB8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CBF16-79D0-489B-ADF4-ADF03C82C1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4F5CD19-CBD8-422A-A4AA-8C59B5DDDB8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7BCBF16-79D0-489B-ADF4-ADF03C82C1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CD19-CBD8-422A-A4AA-8C59B5DDDB8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CBF16-79D0-489B-ADF4-ADF03C82C1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CD19-CBD8-422A-A4AA-8C59B5DDDB8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CBF16-79D0-489B-ADF4-ADF03C82C1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CD19-CBD8-422A-A4AA-8C59B5DDDB8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CBF16-79D0-489B-ADF4-ADF03C82C1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CD19-CBD8-422A-A4AA-8C59B5DDDB8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CBF16-79D0-489B-ADF4-ADF03C82C11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CD19-CBD8-422A-A4AA-8C59B5DDDB8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7BCBF16-79D0-489B-ADF4-ADF03C82C1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 dirty="0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CD19-CBD8-422A-A4AA-8C59B5DDDB8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CBF16-79D0-489B-ADF4-ADF03C82C1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CD19-CBD8-422A-A4AA-8C59B5DDDB8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CBF16-79D0-489B-ADF4-ADF03C82C11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CD19-CBD8-422A-A4AA-8C59B5DDDB8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7BCBF16-79D0-489B-ADF4-ADF03C82C11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84F5CD19-CBD8-422A-A4AA-8C59B5DDDB8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fld id="{A7BCBF16-79D0-489B-ADF4-ADF03C82C11D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41500"/>
            <a:ext cx="2143125" cy="2143125"/>
          </a:xfrm>
          <a:prstGeom prst="rect">
            <a:avLst/>
          </a:prstGeom>
        </p:spPr>
      </p:pic>
      <p:sp>
        <p:nvSpPr>
          <p:cNvPr id="3" name="مربع نص 2"/>
          <p:cNvSpPr txBox="1"/>
          <p:nvPr/>
        </p:nvSpPr>
        <p:spPr>
          <a:xfrm>
            <a:off x="5943600" y="4225946"/>
            <a:ext cx="25146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JO" dirty="0"/>
              <a:t>اعداد:</a:t>
            </a:r>
          </a:p>
          <a:p>
            <a:pPr algn="r"/>
            <a:r>
              <a:rPr lang="ar-JO" sz="2400" dirty="0">
                <a:cs typeface="Akhbar MT" pitchFamily="2" charset="-78"/>
              </a:rPr>
              <a:t>ليث ابو يعقوب </a:t>
            </a:r>
          </a:p>
          <a:p>
            <a:pPr algn="r"/>
            <a:r>
              <a:rPr lang="ar-EG" sz="2400" dirty="0">
                <a:cs typeface="Akhbar MT" pitchFamily="2" charset="-78"/>
              </a:rPr>
              <a:t>أ</a:t>
            </a:r>
            <a:r>
              <a:rPr lang="ar-JO" sz="2400" dirty="0">
                <a:cs typeface="Akhbar MT" pitchFamily="2" charset="-78"/>
              </a:rPr>
              <a:t>مين نور</a:t>
            </a:r>
          </a:p>
          <a:p>
            <a:pPr algn="r"/>
            <a:r>
              <a:rPr lang="ar-JO" sz="2400" dirty="0">
                <a:cs typeface="Akhbar MT" pitchFamily="2" charset="-78"/>
              </a:rPr>
              <a:t>عبدالله خطيب</a:t>
            </a:r>
          </a:p>
          <a:p>
            <a:pPr algn="r"/>
            <a:r>
              <a:rPr lang="ar-JO" sz="2400" dirty="0">
                <a:cs typeface="Akhbar MT" pitchFamily="2" charset="-78"/>
              </a:rPr>
              <a:t>ليث السفاريني</a:t>
            </a:r>
          </a:p>
          <a:p>
            <a:pPr algn="r"/>
            <a:r>
              <a:rPr lang="ar-JO" sz="2400" dirty="0">
                <a:cs typeface="Akhbar MT" pitchFamily="2" charset="-78"/>
              </a:rPr>
              <a:t>مروان سباتين</a:t>
            </a:r>
            <a:endParaRPr lang="en-US" sz="2400" dirty="0">
              <a:cs typeface="Akhbar MT" pitchFamily="2" charset="-78"/>
            </a:endParaRPr>
          </a:p>
        </p:txBody>
      </p:sp>
      <p:sp>
        <p:nvSpPr>
          <p:cNvPr id="5" name="مربع نص 4"/>
          <p:cNvSpPr txBox="1"/>
          <p:nvPr/>
        </p:nvSpPr>
        <p:spPr>
          <a:xfrm>
            <a:off x="3505199" y="2514600"/>
            <a:ext cx="2143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dirty="0"/>
              <a:t>مركز التعليم المستمر</a:t>
            </a:r>
          </a:p>
          <a:p>
            <a:pPr algn="ctr"/>
            <a:r>
              <a:rPr lang="ar-JO" dirty="0"/>
              <a:t>جامعة بيرزيت</a:t>
            </a:r>
            <a:endParaRPr lang="en-US" dirty="0"/>
          </a:p>
        </p:txBody>
      </p:sp>
      <p:sp>
        <p:nvSpPr>
          <p:cNvPr id="6" name="مربع نص 5"/>
          <p:cNvSpPr txBox="1"/>
          <p:nvPr/>
        </p:nvSpPr>
        <p:spPr>
          <a:xfrm>
            <a:off x="2878931" y="3561800"/>
            <a:ext cx="3386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dirty="0"/>
              <a:t>مقارنة عدد الساكنين في منزل ملك في عامين 2017</a:t>
            </a:r>
            <a:r>
              <a:rPr lang="ar-EG" dirty="0"/>
              <a:t>و</a:t>
            </a:r>
            <a:r>
              <a:rPr lang="ar-JO" dirty="0"/>
              <a:t>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41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محتوى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r" rtl="1">
              <a:buFont typeface="Arial" pitchFamily="34" charset="0"/>
              <a:buChar char="•"/>
            </a:pPr>
            <a:r>
              <a:rPr lang="ar-JO" dirty="0"/>
              <a:t>عنوان المشروع:</a:t>
            </a:r>
            <a:endParaRPr lang="ar-EG" dirty="0"/>
          </a:p>
          <a:p>
            <a:pPr marL="0" indent="0" algn="r" rtl="1">
              <a:buNone/>
            </a:pPr>
            <a:r>
              <a:rPr lang="ar-EG" sz="1800" dirty="0"/>
              <a:t>	</a:t>
            </a:r>
            <a:r>
              <a:rPr lang="ar-JO" sz="1800" dirty="0"/>
              <a:t>مقارنة عدد الساكنين في منزل/دار ملك في عامي 2017</a:t>
            </a:r>
            <a:r>
              <a:rPr lang="ar-EG" sz="1800" dirty="0"/>
              <a:t>و</a:t>
            </a:r>
            <a:r>
              <a:rPr lang="ar-JO" sz="1800" dirty="0"/>
              <a:t>2023</a:t>
            </a:r>
            <a:r>
              <a:rPr lang="ar-EG" sz="1800" dirty="0"/>
              <a:t>.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ar-JO" dirty="0"/>
              <a:t>هدف التحليل:</a:t>
            </a:r>
            <a:endParaRPr lang="ar-EG" dirty="0"/>
          </a:p>
          <a:p>
            <a:pPr marL="0" indent="0" algn="r" rtl="1">
              <a:buNone/>
            </a:pPr>
            <a:r>
              <a:rPr lang="ar-EG" dirty="0"/>
              <a:t>	</a:t>
            </a:r>
            <a:r>
              <a:rPr lang="ar-JO" sz="1800" dirty="0"/>
              <a:t>يهدف التحليل إلى مقارنة عدد الساكنين في منزل (دار) ملك بين عام 2017 </a:t>
            </a:r>
            <a:r>
              <a:rPr lang="ar-EG" sz="1800" dirty="0"/>
              <a:t>	</a:t>
            </a:r>
            <a:r>
              <a:rPr lang="ar-JO" sz="1800" dirty="0"/>
              <a:t>وعام 2023 لتحديد التغيرات السكانية ومعدل النمو أو التراجع خلال هذه</a:t>
            </a:r>
            <a:r>
              <a:rPr lang="ar-EG" sz="1800" dirty="0"/>
              <a:t> </a:t>
            </a:r>
            <a:r>
              <a:rPr lang="ar-JO" sz="1800" dirty="0"/>
              <a:t>الفترة.</a:t>
            </a:r>
            <a:endParaRPr lang="ar-EG" sz="1800" dirty="0"/>
          </a:p>
          <a:p>
            <a:pPr marL="285750" indent="-285750" algn="r" rtl="1">
              <a:buFont typeface="Arial" pitchFamily="34" charset="0"/>
              <a:buChar char="•"/>
            </a:pPr>
            <a:r>
              <a:rPr lang="ar-JO" dirty="0"/>
              <a:t>الفئة المستهدفة:</a:t>
            </a:r>
            <a:endParaRPr lang="ar-EG" dirty="0"/>
          </a:p>
          <a:p>
            <a:pPr marL="0" indent="0" algn="r" rtl="1">
              <a:buNone/>
            </a:pPr>
            <a:r>
              <a:rPr lang="ar-EG" dirty="0"/>
              <a:t>	</a:t>
            </a:r>
            <a:r>
              <a:rPr lang="ar-JO" sz="1800" dirty="0"/>
              <a:t>سكان الضفة الغربية بجميع الفئات العمرية، بهدف الاستفادة من النتائج في دعم </a:t>
            </a:r>
            <a:r>
              <a:rPr lang="ar-EG" sz="1800" dirty="0"/>
              <a:t>	</a:t>
            </a:r>
            <a:r>
              <a:rPr lang="ar-JO" sz="1800" dirty="0"/>
              <a:t>سياسات الإسكان والتخطيط العمراني.</a:t>
            </a:r>
            <a:endParaRPr lang="ar-EG" sz="1800" dirty="0"/>
          </a:p>
          <a:p>
            <a:pPr marL="285750" indent="-285750" algn="r" rtl="1">
              <a:buFont typeface="Arial" pitchFamily="34" charset="0"/>
              <a:buChar char="•"/>
            </a:pPr>
            <a:r>
              <a:rPr lang="ar-JO" dirty="0"/>
              <a:t>التحليل المستخدم:</a:t>
            </a:r>
            <a:endParaRPr lang="ar-EG" dirty="0"/>
          </a:p>
          <a:p>
            <a:pPr marL="0" indent="0" algn="r" rtl="1">
              <a:buNone/>
            </a:pPr>
            <a:r>
              <a:rPr lang="ar-EG" dirty="0"/>
              <a:t>	</a:t>
            </a:r>
            <a:r>
              <a:rPr lang="ar-JO" sz="1800" dirty="0"/>
              <a:t>تحليل وصفي يعتمد على عرض البيانات باستخدام الرسوم البيانية والجداول </a:t>
            </a:r>
            <a:r>
              <a:rPr lang="ar-EG" sz="1800" dirty="0"/>
              <a:t>	</a:t>
            </a:r>
            <a:r>
              <a:rPr lang="ar-JO" sz="1800" dirty="0"/>
              <a:t>الإحصائية لتوضيح توزيع السكان والاختلافات بين السنتين.</a:t>
            </a:r>
            <a:endParaRPr lang="en-US" sz="1800" dirty="0"/>
          </a:p>
        </p:txBody>
      </p:sp>
      <p:sp>
        <p:nvSpPr>
          <p:cNvPr id="3" name="عنوان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JO" dirty="0"/>
              <a:t>مقدمة المشروع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922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وان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Y" dirty="0"/>
              <a:t>المسؤوليات والمبادئ الاخلاقية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0D406D-EAEF-41C6-B367-E32DD5BE41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030" y="1623896"/>
            <a:ext cx="8839200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ar-SA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الدقة والشفافية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74320" lvl="1" indent="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استخدام مصادر موثوقة للبيانات مثل السجلات الحكومية والتقارير العقارية الرسمية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74320" lvl="1" indent="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الإبلاغ عن أي قيود أو تحيزات في البيانات المستخدمة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74320" lvl="1" indent="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التحقق من صحة التحليل قبل نشر النتائج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kumimoji="0" lang="ar-SA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حماية الخصوصية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74320" lvl="1" indent="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إخفاء هوية الأفراد وعدم الكشف عن معلوماتهم الشخصية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74320" lvl="1" indent="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الامتثال للقوانين واللوائح المتعلقة بحماية البيانات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kumimoji="0" lang="ar-SA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الموضوعية وعدم التحيز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74320" lvl="1" indent="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تجنب الانحياز في اختيار البيانات أو تفسيرها لخدمة أجندة معينة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74320" lvl="1" indent="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عرض التحليل بإنصاف مع الإشارة إلى العوامل المؤثرة مثل التضخم، الفائدة البنكية، وسياسات الإسكان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kumimoji="0" lang="ar-SA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توضيح مصادر البيانات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74320" lvl="1" indent="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شرح كيفية جمع البيانات وتحليلها بحيث يمكن للآخرين مراجعتها أو تكرارها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74320" lvl="1" indent="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الإشارة إلى أي تعديلات أو عمليات تنظيف أجريت على البيانات الخام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kumimoji="0" lang="ar-SA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النزاهة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74320" lvl="1" indent="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الالتزام بالمعايير الأخلاقية في جميع مراحل التحليل والعرض لضمان مصداقية النتائج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784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محتوى 1"/>
          <p:cNvSpPr>
            <a:spLocks noGrp="1"/>
          </p:cNvSpPr>
          <p:nvPr>
            <p:ph idx="1"/>
          </p:nvPr>
        </p:nvSpPr>
        <p:spPr>
          <a:xfrm>
            <a:off x="380999" y="1719070"/>
            <a:ext cx="8407893" cy="4910329"/>
          </a:xfrm>
        </p:spPr>
        <p:txBody>
          <a:bodyPr>
            <a:normAutofit/>
          </a:bodyPr>
          <a:lstStyle/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SA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البيانات التي تم جمعها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بيانات نسب الأسر التي تسكن في منازل ملك في عامي 2017 و2023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بيانات عدد سكان فلسطين بتفصيل جميع المحافظات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SA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ملاحظات حول جمع البيانات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تم جمع كمية كبيرة من البيانات، ولكن تم استبعاد معظمها لعدم مطابقتها لمتطلبات المشروع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واجهنا تحديات في جمع البيانات؛ حيث تم التواصل مع بعض المؤسسات دون الحصول على تجاوب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SA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مصادر البيانات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نقابة المهندسين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الحكم المحلي في محافظة بيت لحم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الإحصاء الفلسطيني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بلدية البيرة</a:t>
            </a:r>
            <a:endParaRPr lang="ar-EG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بلدية طولكرم</a:t>
            </a: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وغيرها من المصادر الأخرى</a:t>
            </a:r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 rtl="1"/>
            <a:endParaRPr lang="en-US" dirty="0"/>
          </a:p>
        </p:txBody>
      </p:sp>
      <p:sp>
        <p:nvSpPr>
          <p:cNvPr id="3" name="عنوان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Y" dirty="0"/>
              <a:t>مجموعة البيانات ومصادرها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104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محتوى 1"/>
          <p:cNvSpPr>
            <a:spLocks noGrp="1"/>
          </p:cNvSpPr>
          <p:nvPr>
            <p:ph idx="1"/>
          </p:nvPr>
        </p:nvSpPr>
        <p:spPr>
          <a:xfrm>
            <a:off x="380999" y="1981199"/>
            <a:ext cx="8407893" cy="4145279"/>
          </a:xfrm>
        </p:spPr>
        <p:txBody>
          <a:bodyPr>
            <a:normAutofit/>
          </a:bodyPr>
          <a:lstStyle/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تنقيح البيانات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بعد جمع البيانات من عدة مصادر، تم الاكتفاء ببيانات الإحصاء الفلسطيني فقط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تم أخذ عدد السكان لعامي 2017 و2023 وحذف باقي الأعوام، مع استثناء قطاع غزة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EG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دمج جداول البيانات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في جداول نسب السكان، تم دمجها مع عدد السكان بعد عملية التنظيف، مع استثناء قطاع غزة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تم ضرب نسبة المالكين في عدد السكان لكل محافظة للحصول على الأرقام الدقيقة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عنوان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JO" dirty="0"/>
              <a:t>المعالجات: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827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محتوى 1"/>
          <p:cNvSpPr>
            <a:spLocks noGrp="1"/>
          </p:cNvSpPr>
          <p:nvPr>
            <p:ph idx="1"/>
          </p:nvPr>
        </p:nvSpPr>
        <p:spPr>
          <a:xfrm>
            <a:off x="380999" y="1676400"/>
            <a:ext cx="8407893" cy="4953000"/>
          </a:xfrm>
        </p:spPr>
        <p:txBody>
          <a:bodyPr>
            <a:normAutofit fontScale="92500" lnSpcReduction="10000"/>
          </a:bodyPr>
          <a:lstStyle/>
          <a:p>
            <a:pPr marL="0" marR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ar-SA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البيانات الهيكلية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البيانات التي تم جمعها عبارة عن بيانات هيكلية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(Structured Data).</a:t>
            </a:r>
            <a:r>
              <a:rPr lang="ar-EG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ar-SA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نسبة الملاك في كل محافظة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الوصف: تمثل النسبة المئوية للأسر التي تمتلك منازلها في كل محافظة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EG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ar-SA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إجمالي عدد السكان في كل محافظة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الوصف: إجمالي عدد الأفراد الذين يعيشون في كل محافظة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النوع: بيانات كمية مطلقة (عدد صحيح)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EG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ar-SA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نسبة المستأجرين في كل محافظة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الوصف: تمثل النسبة المئوية للأسر التي تسكن بالإيجار في كل محافظة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r" rtl="1">
              <a:buNone/>
            </a:pPr>
            <a:endParaRPr lang="en-US" dirty="0"/>
          </a:p>
        </p:txBody>
      </p:sp>
      <p:sp>
        <p:nvSpPr>
          <p:cNvPr id="3" name="عنوان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JO" dirty="0"/>
              <a:t>وصف البيانات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614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محتوى 1"/>
          <p:cNvSpPr>
            <a:spLocks noGrp="1"/>
          </p:cNvSpPr>
          <p:nvPr>
            <p:ph idx="1"/>
          </p:nvPr>
        </p:nvSpPr>
        <p:spPr>
          <a:xfrm>
            <a:off x="380999" y="1719070"/>
            <a:ext cx="8407893" cy="5062729"/>
          </a:xfrm>
        </p:spPr>
        <p:txBody>
          <a:bodyPr>
            <a:normAutofit/>
          </a:bodyPr>
          <a:lstStyle/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التغير في نسبة الساكنين في منازل ملك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ارتفع عدد الساكنين في منازل ملك في عام 2023 مقارنة بعام 2017 في معظم محافظات الضفة الغربية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الاستثناءات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شهدت </a:t>
            </a:r>
            <a:r>
              <a:rPr lang="ar-SA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بيت لحم ونابلس</a:t>
            </a:r>
            <a:r>
              <a:rPr lang="ar-SA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انخفاضًا في نسبة الساكنين في منازل ملك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التغير في نسبة المستأجرين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انخفضت نسبة الأسر التي تسكن بالإيجار في جميع المحافظات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الاستثناءات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 algn="r" rtl="1"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ar-SA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طوباس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لم يطرأ أي تغيير على نسبة المستأجرين، حيث بقيت ثابتة بين العامين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143000" marR="0" lvl="2" indent="-228600" algn="r" rtl="1"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ar-SA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القدس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شهدت ارتفاعًا ملحوظًا في نسبة الأسر التي تسكن بالإيجار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نوع التحليل المستخدم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تحليل وصفي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لتلخيص التغيرات في البيانات السكانية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تحليل مقارن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لمقارنة بيانات عامي 2017 و2023 وتحديد الفروقات بينهما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تحليل زمني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لدراسة الاتجاهات السكانية على مدار الزمن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r" rtl="1"/>
            <a:endParaRPr lang="en-US" dirty="0"/>
          </a:p>
        </p:txBody>
      </p:sp>
      <p:sp>
        <p:nvSpPr>
          <p:cNvPr id="3" name="عنوان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Y" dirty="0"/>
              <a:t>نتائج </a:t>
            </a:r>
            <a:r>
              <a:rPr lang="ar-JO" dirty="0"/>
              <a:t>التحليل الوصفي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60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/>
          <p:cNvSpPr txBox="1"/>
          <p:nvPr/>
        </p:nvSpPr>
        <p:spPr>
          <a:xfrm>
            <a:off x="5209713" y="413266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dirty="0"/>
              <a:t>الرسومات والمنظر النهائي</a:t>
            </a:r>
            <a:endParaRPr lang="en-US" dirty="0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666819"/>
            <a:ext cx="8915400" cy="521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972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شبكة">
  <a:themeElements>
    <a:clrScheme name="شبكة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شبكة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شبكة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Grid</Template>
  <TotalTime>245</TotalTime>
  <Words>635</Words>
  <Application>Microsoft Office PowerPoint</Application>
  <PresentationFormat>On-screen Show (4:3)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Courier New</vt:lpstr>
      <vt:lpstr>Franklin Gothic Medium</vt:lpstr>
      <vt:lpstr>Symbol</vt:lpstr>
      <vt:lpstr>Times New Roman</vt:lpstr>
      <vt:lpstr>Wingdings</vt:lpstr>
      <vt:lpstr>Wingdings 2</vt:lpstr>
      <vt:lpstr>شبكة</vt:lpstr>
      <vt:lpstr>PowerPoint Presentation</vt:lpstr>
      <vt:lpstr>مقدمة المشروع</vt:lpstr>
      <vt:lpstr>المسؤوليات والمبادئ الاخلاقية</vt:lpstr>
      <vt:lpstr>مجموعة البيانات ومصادرها</vt:lpstr>
      <vt:lpstr>المعالجات:</vt:lpstr>
      <vt:lpstr>وصف البيانات</vt:lpstr>
      <vt:lpstr>نتائج التحليل الوصفي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Microsoft Sukker</dc:creator>
  <cp:lastModifiedBy>Abdullah khatib</cp:lastModifiedBy>
  <cp:revision>22</cp:revision>
  <dcterms:created xsi:type="dcterms:W3CDTF">2025-02-22T08:14:45Z</dcterms:created>
  <dcterms:modified xsi:type="dcterms:W3CDTF">2025-02-22T12:22:01Z</dcterms:modified>
</cp:coreProperties>
</file>